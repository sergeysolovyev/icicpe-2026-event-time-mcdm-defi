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Event-Time MCDM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Lending Allocator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validated +2.81 pp net APY vs Aave V3 hold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protocols, $1M–$50M position capacity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+2.81 pp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net APY vs Aave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(6/6 windows, p&lt;10⁻⁴)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bp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5852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sophisticated 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over T1 (p=0.015)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26480" y="5852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ceiling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−1.07 pp drag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0" y="5303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869680" y="5852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2024 — Apr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 Lending Allocation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for institutional LPs: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USDC supply rates fragment across 6+ protocols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Rates flip on per-block event timescale (~12 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Hourly polling misses 99% of microstructure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Naive 'always-Aave' hold misses +280 bp annualized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Active rebalancing exposes gas + slippage friction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463040"/>
            <a:ext cx="4846320" cy="475488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USDC supply TVL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 V3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$19.4B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0704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2880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SparkLend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 Blue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1832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07040" y="3383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V3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07040" y="3886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4389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Finance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0704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V2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07040" y="4892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56692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$36.3B / $54B (67%) addressable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Decision Policy Ladder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Gas-aware threshold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9184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spread × dwell &gt; gas: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to best APR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EWMA dwell, no calibration. 50 LOC.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that already beats hourly polling by 92 bp.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Optimal stopping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329184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S* = θ + σ·√(K_per_dollar / κ·dt)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4114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OU(κ, θ, σ) MLE-calibrated spread, closed-form Bellman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boundary. ~200 LOC. Recalibrates every 5000 blocks.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Cox proportional-hazards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0" y="2514600"/>
            <a:ext cx="3291840" cy="1463040"/>
          </a:xfrm>
          <a:prstGeom prst="rect">
            <a:avLst/>
          </a:prstGeom>
          <a:solidFill>
            <a:srgbClr val="0F1640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λ(t|x) = λ₀·exp(β'x_t)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114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MacKenzie (2021) F1/F3/F4 signal features.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López de Prado AFML methodology. ~500 LOC + offline train.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tiers share the same gas-aware crossover inequality. Differ only in how E[dwell] is estimated.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N×M Paired Bootstrap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policies × 6 protocol-holds × 6 walk-forward windows × B=10,000 bootstrap, seed=42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Aave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Compound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Morpho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Fluid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Euler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+2.81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+2.63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+2.63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+1.46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OU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+2.37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+1.34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+2.14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+1.01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3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p=0.216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Cox F1+F3+F4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+2.70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+1.85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+2.65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+2.70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p&lt;10⁻⁴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+1.53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p=0.011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18 contrasts significant at p&lt;0.05.  T3 dominates T1 on every contrast by +5–10 bp.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ΔAPY is the binding fund-relevant metric, not Sharpe — see Sharpe-inflation paradox note (López de Prado AFML Ch.4).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Cox-Hazard ML Closes Pre-Registered H1c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+7.03 bp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ΔAPY of T3 over T1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walk-forward windows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[+0.48, +14.74] bp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0.0152 (one-sided)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Wins: 5/6 windows positive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third pre-registered hypothesis.  All 3 H1 confirmed: H1a +189 bp (T1 vs hourly EMA), H1b near-tied (T2 honest negative), H1c +7 bp (T3 ML).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577840" cy="475488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MacKenzie F1/F3/F4 ablation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C-index, 5-fold purged CV with embargo (López de Prado AFML Ch.7.4)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only (baseline)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5256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696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 F3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5256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6696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 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+ F4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5256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6696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F1+F3+F4 (canonical)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6696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 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51206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Maker DSR (1-hour delta) is the only non-F3 contributor.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(USDC peg + ETH/USD): honest zero (gas placeholder dropped).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Edge Holds to $50M 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Krause-2005 yield-impact, 6-way active panel, per-protocol IRM slopes calibrated to mean 18-month TVL/utilization</a:t>
            </a:r>
            <a:endParaRPr lang="en-US" sz="1100" dirty="0"/>
          </a:p>
        </p:txBody>
      </p:sp>
      <p:pic>
        <p:nvPicPr>
          <p:cNvPr id="6" name="Image 0" descr="D:/DeFi/predictive-mcdm-defi/results/institutional/figures/capacity_curve_6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8580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0" y="1645920"/>
            <a:ext cx="4023360" cy="4572000"/>
          </a:xfrm>
          <a:prstGeom prst="roundRect">
            <a:avLst>
              <a:gd name="adj" fmla="val 272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net APY by position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2468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52560" y="2468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7.43%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+274 bp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052560" y="3017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7.21%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33272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+257 bp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3566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052560" y="3566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6.68%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332720" y="3566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+205 bp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052560" y="4114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6.40%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332720" y="4114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+178 bp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over passive Aave-hold (4.62% at $50M)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46720" y="5486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strategies retain edge to $50M.  Linear scaling in raw alpha; sub-linear in yield-impact.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+ Operational SLAs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(21 risks × 7 categories)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Smart-contract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Aave/Morpho/Euler audited; multisig custody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USDC peg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Auto-withdraw on ≥50 bp depeg (within 1 block)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Flashbots private mempool (asymmetric speed bump)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Oracle / RPC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primary + 1× failover; &lt;30-block lag SLA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via signed STOP from multisig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uptime, Prometheus + audit trail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Capacity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size &lt;50M; $25M needs 6mo track record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4937760" cy="4937760"/>
          </a:xfrm>
          <a:prstGeom prst="roundRect">
            <a:avLst>
              <a:gd name="adj" fmla="val 222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SLA targets (committed to LP)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uptime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/ month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Block-lag P95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blocks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latency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s after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Auto-withdraw on depeg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block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reporting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926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real-time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LP equity snapshot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9264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rebalance email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926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auto-summary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drawdown debrief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0" y="5486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attribution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 observability shipped: JSON logs + Prometheus /metrics + append-only audit trail (128/128 tests pass)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Live Trial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194560" cy="457200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notional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switches logged, Flashbots dry-run verified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645920"/>
            <a:ext cx="2194560" cy="457200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shadow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(paper)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036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1480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 match backtest ±5%, uptime ≥99%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645920"/>
            <a:ext cx="2194560" cy="457200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411480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APY &gt; Aave + 20 bp, DD &lt;25 bp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1645920"/>
            <a:ext cx="2194560" cy="4572000"/>
          </a:xfrm>
          <a:prstGeom prst="roundRect">
            <a:avLst>
              <a:gd name="adj" fmla="val 416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438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scale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411480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APY &gt; Aave + 30 bp, ≥30 rebalances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84080" y="1645920"/>
            <a:ext cx="2194560" cy="457200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7552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LP allocation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7552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75520" y="3566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411480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Dune dashboard with on-chain attestation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no phase &gt;$25M without 12 months mainnet track record at lower sizes.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LP commitment — $1M minimum, 2/20 fee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F16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methodology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H1 hypotheses written May 21, validated May 27.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hacking; full pre-registration trail.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26517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F16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788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infrastructure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3246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(Tier 5 observability, 128/128 tests).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Bit-identical decision modules with backtest.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F16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43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negatives reported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OU over-trades on rich features.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USDC peg adds zero in current config.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2062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F16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343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Capacity-validated alpha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+178 bp net edge over Aave at $50M.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Krause-2005 yield-impact closed-form.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Sergei S. Solovev  •  sssolovjov@gmail.com  •  HSE FCS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Event-Time MCDM DeFi Allocator — Fund LP Deck</dc:title>
  <dc:subject>PptxGenJS Presentation</dc:subject>
  <dc:creator>Sergei S. Solovev</dc:creator>
  <cp:lastModifiedBy>Sergei S. Solovev</cp:lastModifiedBy>
  <cp:revision>1</cp:revision>
  <dcterms:created xsi:type="dcterms:W3CDTF">2026-05-27T22:34:18Z</dcterms:created>
  <dcterms:modified xsi:type="dcterms:W3CDTF">2026-05-27T22:34:18Z</dcterms:modified>
</cp:coreProperties>
</file>